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tergy"/>
  <p:cmAuthor clrIdx="1" id="1" initials="" lastIdx="1" name="Sanchita Ghosh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771C61-CCDC-4E5F-AD1B-FB2943BE23A8}">
  <a:tblStyle styleId="{A5771C61-CCDC-4E5F-AD1B-FB2943BE23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6-07T19:15:55.308">
    <p:pos x="1179" y="352"/>
    <p:text>feel free to change anything, i just put these images here as placeholder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5-06-08T08:39:03.379">
    <p:pos x="6000" y="0"/>
    <p:text>maybe we can add a plot of avg fitness with initial params here.
Also this is just initial draft of how understand the problem , fell free to change it as you see fit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5-06-06T21:22:17.556">
    <p:pos x="196" y="725"/>
    <p:text>I like to write a lot of text at first when making slides. I will remove almost all when I refine it later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16edc54a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616edc54a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Observation : The avg-fitness vs generation plot using the default parameters (tournament_2, mut 0.25), demonstrated a sharp decline in the first few generations then relatively plateaued.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/>
              <a:t>Idea : The plateau could be made more steep and result in higher fitness after 500 generation, if there was higher selection pressure.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1ef23065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1ef23065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1ef23065b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1ef23065b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1fa37f56d_5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1fa37f56d_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1fa37f56d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1fa37f56d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1ef23065b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1ef23065b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Initial hyperparam tuning -  A fitness plateau = low exploration -&gt; so </a:t>
            </a:r>
            <a:r>
              <a:rPr lang="nl"/>
              <a:t>cranked</a:t>
            </a:r>
            <a:r>
              <a:rPr lang="nl"/>
              <a:t> the mutation strength to 0.5, was better but not by much (55k-&gt;47k). shape of the graph still same.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nl"/>
            </a:br>
            <a:r>
              <a:rPr lang="nl"/>
              <a:t>Motivation for </a:t>
            </a:r>
            <a:r>
              <a:rPr lang="nl"/>
              <a:t>truncation</a:t>
            </a:r>
            <a:r>
              <a:rPr lang="nl"/>
              <a:t> - mutation alone wasnt enough to recover from stagnation (mut=0.5, still 55k). Under the original tournament-2 scheme, small fitness improvements by higher mutation were effectively lost. By increasing selection pressure (e.g. tournament-5 or truncation), we bias reproduction towards these rare better-offspring, turning exploratory mutations into lasting gains and pushing the population off the plateau.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Next step : find trunc-operator with higher pressure than initial tournament while keeping the higher mutatio strength of 0.5</a:t>
            </a:r>
            <a:br>
              <a:rPr lang="nl"/>
            </a:br>
            <a:br>
              <a:rPr lang="nl"/>
            </a:br>
            <a:r>
              <a:rPr lang="nl"/>
              <a:t>Observations : 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nl"/>
              <a:t>steeper avg-fitness descent in later generations,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nl"/>
              <a:t>but 1-5% </a:t>
            </a:r>
            <a:r>
              <a:rPr lang="nl"/>
              <a:t>truncation</a:t>
            </a:r>
            <a:r>
              <a:rPr lang="nl"/>
              <a:t> might be too high pressure and hence converging fast.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nl"/>
              <a:t>original tournament-2 setup is outclassed once we boost mutation and use any level of truncation other than 60%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Next Idea: Maybe we can avoid the pitfalls of early convergence for 1%, while keeping the benefits of high pressure if we can just maintain the diversity over generations.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—------------------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</a:rPr>
              <a:t>Step 1: hyper param tuning - more mutation cranck to 0.75 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nl">
                <a:solidFill>
                  <a:schemeClr val="dk1"/>
                </a:solidFill>
              </a:rPr>
              <a:t>higher mutation strength - did not stop the early convergence.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nl">
                <a:solidFill>
                  <a:schemeClr val="dk1"/>
                </a:solidFill>
              </a:rPr>
              <a:t>see 10% only went a bit beyond 200 gen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nl">
                <a:solidFill>
                  <a:schemeClr val="dk1"/>
                </a:solidFill>
              </a:rPr>
              <a:t>conclusion Not strong enough to maintain diversity. not depicted here but changing mutation probability also couldn't help us sustain diversity.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1fa37f56d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61fa37f56d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Did we observe these changes and overcome premature convergence ? the highest avg fitness we got here was - 32604.740833 &lt;&lt; 47k from initial</a:t>
            </a:r>
            <a:br>
              <a:rPr lang="nl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>
                <a:solidFill>
                  <a:schemeClr val="dk1"/>
                </a:solidFill>
              </a:rPr>
              <a:t>No premature stall:</a:t>
            </a:r>
            <a:r>
              <a:rPr lang="nl">
                <a:solidFill>
                  <a:schemeClr val="dk1"/>
                </a:solidFill>
              </a:rPr>
              <a:t> Unlike before (with μ=0.25 and even 0.5), the high mutation rate keeps truncation-1 from flat-lining early—so you get both the rapid early gains of a 1% selection bottleneck </a:t>
            </a:r>
            <a:r>
              <a:rPr b="1" lang="nl">
                <a:solidFill>
                  <a:schemeClr val="dk1"/>
                </a:solidFill>
              </a:rPr>
              <a:t>and</a:t>
            </a:r>
            <a:r>
              <a:rPr lang="nl">
                <a:solidFill>
                  <a:schemeClr val="dk1"/>
                </a:solidFill>
              </a:rPr>
              <a:t> sustained improvement.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nl"/>
            </a:br>
            <a:r>
              <a:rPr b="1" lang="nl">
                <a:solidFill>
                  <a:schemeClr val="dk1"/>
                </a:solidFill>
              </a:rPr>
              <a:t>Faster descent:</a:t>
            </a:r>
            <a:r>
              <a:rPr lang="nl">
                <a:solidFill>
                  <a:schemeClr val="dk1"/>
                </a:solidFill>
              </a:rPr>
              <a:t> Even by generation 20, truncation-1 (blue) has driven the average fitness well below what tournament-2 (dashed grey) achieves, and it never looks back.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nl">
                <a:solidFill>
                  <a:schemeClr val="dk1"/>
                </a:solidFill>
              </a:rPr>
              <a:t>Steeper descent</a:t>
            </a:r>
            <a:r>
              <a:rPr lang="nl">
                <a:solidFill>
                  <a:schemeClr val="dk1"/>
                </a:solidFill>
              </a:rPr>
              <a:t>: Truncation-1 (μ = 0.5) settles around ~32 000 best-fitness by Gen 500, whereas tournament-2 (μ = 0.5) near ~47 000—showing that the extreme bottleneck + high mutation reaches a </a:t>
            </a:r>
            <a:r>
              <a:rPr b="1" lang="nl">
                <a:solidFill>
                  <a:schemeClr val="dk1"/>
                </a:solidFill>
              </a:rPr>
              <a:t>deeper</a:t>
            </a:r>
            <a:r>
              <a:rPr lang="nl">
                <a:solidFill>
                  <a:schemeClr val="dk1"/>
                </a:solidFill>
              </a:rPr>
              <a:t> optimum.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</a:rPr>
              <a:t>—-----------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nl">
                <a:solidFill>
                  <a:schemeClr val="dk1"/>
                </a:solidFill>
              </a:rPr>
              <a:t>In short:</a:t>
            </a:r>
            <a:r>
              <a:rPr lang="nl">
                <a:solidFill>
                  <a:schemeClr val="dk1"/>
                </a:solidFill>
              </a:rPr>
              <a:t> pairing </a:t>
            </a:r>
            <a:r>
              <a:rPr b="1" lang="nl">
                <a:solidFill>
                  <a:schemeClr val="dk1"/>
                </a:solidFill>
              </a:rPr>
              <a:t>very strong selection</a:t>
            </a:r>
            <a:r>
              <a:rPr lang="nl">
                <a:solidFill>
                  <a:schemeClr val="dk1"/>
                </a:solidFill>
              </a:rPr>
              <a:t> (top 1%) with a </a:t>
            </a:r>
            <a:r>
              <a:rPr b="1" lang="nl">
                <a:solidFill>
                  <a:schemeClr val="dk1"/>
                </a:solidFill>
              </a:rPr>
              <a:t>higher mutation strength</a:t>
            </a:r>
            <a:r>
              <a:rPr lang="nl">
                <a:solidFill>
                  <a:schemeClr val="dk1"/>
                </a:solidFill>
              </a:rPr>
              <a:t> (σ=0.5) far outperforms the milder tournament-2 scheme at the same mutation level.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1be3b4d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1be3b4d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1be3b4df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1be3b4d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1be3b4df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1be3b4df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1be3b4df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1be3b4df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1f2988c6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1f2988c6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16edc54a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616edc54a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1f2988c6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1f2988c6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nl" sz="1200">
                <a:solidFill>
                  <a:srgbClr val="595959"/>
                </a:solidFill>
              </a:rPr>
              <a:t>Hypothesis 1: (Edge-based initialization):</a:t>
            </a:r>
            <a:r>
              <a:rPr lang="nl" sz="1200">
                <a:solidFill>
                  <a:srgbClr val="595959"/>
                </a:solidFill>
              </a:rPr>
              <a:t> </a:t>
            </a:r>
            <a:endParaRPr sz="12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 sz="1200">
                <a:solidFill>
                  <a:srgbClr val="595959"/>
                </a:solidFill>
              </a:rPr>
              <a:t>Edges contain more visual structure (higher colour gradients).</a:t>
            </a:r>
            <a:endParaRPr sz="12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 sz="1200">
                <a:solidFill>
                  <a:srgbClr val="595959"/>
                </a:solidFill>
              </a:rPr>
              <a:t>Initializing with random edge points should give a better fitness score as we approximate the structure of the image from the beginning.</a:t>
            </a:r>
            <a:endParaRPr sz="12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nl" sz="1200">
                <a:solidFill>
                  <a:srgbClr val="595959"/>
                </a:solidFill>
              </a:rPr>
              <a:t>Set up : </a:t>
            </a:r>
            <a:endParaRPr b="1" sz="1200">
              <a:solidFill>
                <a:srgbClr val="595959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200"/>
              <a:buChar char="●"/>
            </a:pPr>
            <a:r>
              <a:rPr lang="nl" sz="1200">
                <a:solidFill>
                  <a:srgbClr val="595959"/>
                </a:solidFill>
              </a:rPr>
              <a:t>Vary the </a:t>
            </a:r>
            <a:r>
              <a:rPr b="1" lang="nl" sz="1200">
                <a:solidFill>
                  <a:srgbClr val="595959"/>
                </a:solidFill>
              </a:rPr>
              <a:t>percentages of points</a:t>
            </a:r>
            <a:r>
              <a:rPr lang="nl" sz="1200">
                <a:solidFill>
                  <a:srgbClr val="595959"/>
                </a:solidFill>
              </a:rPr>
              <a:t> chosen from </a:t>
            </a:r>
            <a:r>
              <a:rPr b="1" lang="nl" sz="1200">
                <a:solidFill>
                  <a:srgbClr val="595959"/>
                </a:solidFill>
              </a:rPr>
              <a:t>reference image</a:t>
            </a:r>
            <a:r>
              <a:rPr lang="nl" sz="1200">
                <a:solidFill>
                  <a:srgbClr val="595959"/>
                </a:solidFill>
              </a:rPr>
              <a:t> and through </a:t>
            </a:r>
            <a:r>
              <a:rPr b="1" lang="nl" sz="1200">
                <a:solidFill>
                  <a:srgbClr val="595959"/>
                </a:solidFill>
              </a:rPr>
              <a:t>random initialization</a:t>
            </a:r>
            <a:r>
              <a:rPr lang="nl" sz="1200">
                <a:solidFill>
                  <a:srgbClr val="595959"/>
                </a:solidFill>
              </a:rPr>
              <a:t>.</a:t>
            </a:r>
            <a:endParaRPr sz="1200">
              <a:solidFill>
                <a:srgbClr val="595959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●"/>
            </a:pPr>
            <a:r>
              <a:rPr lang="nl" sz="1200">
                <a:solidFill>
                  <a:srgbClr val="595959"/>
                </a:solidFill>
              </a:rPr>
              <a:t>Plot the differences in convergence via </a:t>
            </a:r>
            <a:r>
              <a:rPr b="1" lang="nl" sz="1200">
                <a:solidFill>
                  <a:srgbClr val="595959"/>
                </a:solidFill>
              </a:rPr>
              <a:t>fitness improvement rate</a:t>
            </a:r>
            <a:r>
              <a:rPr lang="nl" sz="1200">
                <a:solidFill>
                  <a:srgbClr val="595959"/>
                </a:solidFill>
              </a:rPr>
              <a:t>.</a:t>
            </a:r>
            <a:endParaRPr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1f2988c67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1f2988c67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1f2988c67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1f2988c67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1f2988c67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61f2988c67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1f2988c67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1f2988c67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1f2988c67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1f2988c67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1f2988c67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1f2988c67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1f2988c6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1f2988c6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1fa37f56d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1fa37f56d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1f2988c67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61f2988c67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1ef23065b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61ef23065b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>
                <a:solidFill>
                  <a:schemeClr val="dk1"/>
                </a:solidFill>
              </a:rPr>
              <a:t>Step 2: operator which higher tendency to preserve diversity - ssga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nl">
                <a:solidFill>
                  <a:schemeClr val="dk1"/>
                </a:solidFill>
              </a:rPr>
              <a:t>Maybe mention this when asked : What is ssga ?how does it preserve diversity 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1f2988c6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61f2988c6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1f2988c67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61f2988c67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61f2988c67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61f2988c67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1f2988c67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61f2988c67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1f2988c67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61f2988c67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1f2988c67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61f2988c67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1f2988c67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61f2988c67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1fa37f56d_5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61fa37f56d_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10.png"/><Relationship Id="rId5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2.xml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comments" Target="../comments/comment3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267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4300"/>
              <a:t>Improving Evolutionary Van Gogh</a:t>
            </a:r>
            <a:endParaRPr sz="43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415475"/>
            <a:ext cx="85206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Roxana Băcălie	Sanchita Ghosh	Sreevidya Iyer	Sofie Vos	Tygo Spanhoff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nl"/>
              <a:t>Group 16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7593" y="567426"/>
            <a:ext cx="2263970" cy="1765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72438" y="559950"/>
            <a:ext cx="2263962" cy="1780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74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Selection Methods to improve avg-fitness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7125" y="846750"/>
            <a:ext cx="5269727" cy="399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Selection Methods to improve avg-fitness 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1327575" y="1152475"/>
            <a:ext cx="6326100" cy="33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Research Question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Which selection methods and hyperparameter configuration maximizes the reduction in average population fitness over 500 generations compared to the initial</a:t>
            </a:r>
            <a:r>
              <a:rPr lang="nl"/>
              <a:t> method and parameters: </a:t>
            </a:r>
            <a:r>
              <a:rPr lang="nl"/>
              <a:t>tournament size 4 and mutation strength 0.25?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352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Selection Methods to improve avg-fitness : Tournament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Tournament + sus related experiments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550" y="925100"/>
            <a:ext cx="7467177" cy="391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nl"/>
              <a:t>Selection Methods to improve avg-fitness: Strategy 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tournament size 20 -&gt; truncation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challenge: proportionate selection -&gt; Stochastic Uniform Sampling (SUS)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Elitism!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Selection Methods to improve avg-fitness 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Tournament and SUS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775" y="1327925"/>
            <a:ext cx="6579850" cy="352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337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Selection Methods to improve avg-fitness : Truncation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9925"/>
            <a:ext cx="4572000" cy="3463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59925"/>
            <a:ext cx="4614175" cy="3495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377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Selection Methods to improve avg-fitness : SSGA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5700" y="950625"/>
            <a:ext cx="5132603" cy="388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Preserving Voronoi-points during Variation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 single Voronoi diagram is represented as: </a:t>
            </a:r>
            <a:endParaRPr/>
          </a:p>
          <a:p>
            <a:pPr indent="457200" lvl="0" marL="18288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xyrgbxyrgbxyrgbxyrgbxyrgbxyrgb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What would a good schema look like?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How about: 			</a:t>
            </a:r>
            <a:r>
              <a:rPr lang="nl"/>
              <a:t>⋆⋆⋆⋆⋆xy⋆⋆</a:t>
            </a:r>
            <a:r>
              <a:rPr lang="nl"/>
              <a:t>⋆⋆⋆</a:t>
            </a:r>
            <a:r>
              <a:rPr lang="nl"/>
              <a:t>⋆⋆⋆⋆⋆⋆⋆⋆⋆⋆⋆⋆⋆⋆⋆⋆⋆</a:t>
            </a:r>
            <a:r>
              <a:rPr lang="nl"/>
              <a:t>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And what about: 		</a:t>
            </a:r>
            <a:r>
              <a:rPr lang="nl"/>
              <a:t>⋆⋆⋆⋆⋆</a:t>
            </a:r>
            <a:r>
              <a:rPr lang="nl"/>
              <a:t>xyrgb</a:t>
            </a:r>
            <a:r>
              <a:rPr lang="nl"/>
              <a:t>⋆⋆⋆⋆⋆⋆⋆⋆⋆⋆⋆⋆⋆⋆⋆⋆⋆⋆⋆?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Or: 					</a:t>
            </a:r>
            <a:r>
              <a:rPr lang="nl"/>
              <a:t>⋆⋆⋆⋆⋆</a:t>
            </a:r>
            <a:r>
              <a:rPr lang="nl"/>
              <a:t>xyrgbxyrgb</a:t>
            </a:r>
            <a:r>
              <a:rPr lang="nl"/>
              <a:t>⋆⋆⋆⋆⋆</a:t>
            </a:r>
            <a:r>
              <a:rPr lang="nl"/>
              <a:t>xyrgb</a:t>
            </a:r>
            <a:r>
              <a:rPr lang="nl"/>
              <a:t>⋆⋆⋆⋆⋆?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Preserving Voronoi-points during Variation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nl" sz="1900"/>
              <a:t>How does preserving the (x, y, r, g, b)-structure of individual Voronoi points during crossover affect the algorithm’s convergence rate?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Preserving Voronoi-points during Variation</a:t>
            </a:r>
            <a:endParaRPr/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8963" y="1017725"/>
            <a:ext cx="7166080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Preserving Voronoi-points during Variation: Results</a:t>
            </a:r>
            <a:endParaRPr/>
          </a:p>
        </p:txBody>
      </p:sp>
      <p:pic>
        <p:nvPicPr>
          <p:cNvPr id="125" name="Google Shape;125;p24" title="auc_comparison_confidence_bar_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738" y="1017725"/>
            <a:ext cx="773256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nl"/>
              <a:t>Grey-box Initialization - Why?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nl"/>
              <a:t>Problem:</a:t>
            </a:r>
            <a:r>
              <a:rPr lang="nl"/>
              <a:t> Slow Convergence in Evolutionary Models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The model takes a long time to converge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It tries many random colors and positions.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Final fitness after generations varies depending on the initial population.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Results are inconsistent and unpredictable across runs.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We suspect that better initialization could improve convergence and stability.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Grey-box Initialization - Using Domain Knowledge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nl"/>
              <a:t>Research question</a:t>
            </a:r>
            <a:r>
              <a:rPr lang="nl"/>
              <a:t>: To what extent does initializing the population using points extracted from reference image improve convergence speed and solution quality compared to random initialization?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nl"/>
              <a:t>Experiments:</a:t>
            </a:r>
            <a:endParaRPr b="1"/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nl"/>
              <a:t>Edge-Based Initialization</a:t>
            </a:r>
            <a:r>
              <a:rPr lang="nl"/>
              <a:t>: Places more points in regions with high color variation (edges)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nl"/>
              <a:t>Region-Based Color Averaging</a:t>
            </a:r>
            <a:r>
              <a:rPr lang="nl"/>
              <a:t>: Starts with average colors in local regions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Experiment - 1 Edge Based Initialization</a:t>
            </a:r>
            <a:endParaRPr/>
          </a:p>
        </p:txBody>
      </p:sp>
      <p:pic>
        <p:nvPicPr>
          <p:cNvPr id="143" name="Google Shape;1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387" y="1104625"/>
            <a:ext cx="7991224" cy="335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178425" y="116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nl"/>
              <a:t>Edge-based initialization</a:t>
            </a:r>
            <a:r>
              <a:rPr lang="nl"/>
              <a:t>: Results</a:t>
            </a:r>
            <a:endParaRPr/>
          </a:p>
        </p:txBody>
      </p:sp>
      <p:pic>
        <p:nvPicPr>
          <p:cNvPr id="149" name="Google Shape;1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25" y="689400"/>
            <a:ext cx="8723148" cy="43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nl"/>
              <a:t>Edge-based initialization</a:t>
            </a:r>
            <a:r>
              <a:rPr lang="nl"/>
              <a:t>: Results</a:t>
            </a:r>
            <a:endParaRPr/>
          </a:p>
        </p:txBody>
      </p:sp>
      <p:pic>
        <p:nvPicPr>
          <p:cNvPr id="155" name="Google Shape;15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425" y="1017725"/>
            <a:ext cx="827025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Experiment 2: regions-based</a:t>
            </a:r>
            <a:endParaRPr/>
          </a:p>
        </p:txBody>
      </p:sp>
      <p:pic>
        <p:nvPicPr>
          <p:cNvPr id="161" name="Google Shape;16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3175"/>
            <a:ext cx="8839204" cy="294784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Captures the image’s overall tone</a:t>
            </a:r>
            <a:br>
              <a:rPr b="1" lang="nl"/>
            </a:b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311700" y="257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nl"/>
              <a:t>Region</a:t>
            </a:r>
            <a:r>
              <a:rPr lang="nl"/>
              <a:t>-based initialization</a:t>
            </a:r>
            <a:r>
              <a:rPr lang="nl"/>
              <a:t>: Results</a:t>
            </a:r>
            <a:endParaRPr/>
          </a:p>
        </p:txBody>
      </p:sp>
      <p:pic>
        <p:nvPicPr>
          <p:cNvPr id="168" name="Google Shape;16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63" y="952725"/>
            <a:ext cx="8132476" cy="390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311700" y="273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nl"/>
              <a:t>Region-based initialization: Results</a:t>
            </a:r>
            <a:endParaRPr/>
          </a:p>
        </p:txBody>
      </p:sp>
      <p:pic>
        <p:nvPicPr>
          <p:cNvPr id="174" name="Google Shape;17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350" y="1026625"/>
            <a:ext cx="8320950" cy="389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nl"/>
              <a:t>A comparison of the best fitnesses</a:t>
            </a:r>
            <a:endParaRPr/>
          </a:p>
        </p:txBody>
      </p:sp>
      <p:pic>
        <p:nvPicPr>
          <p:cNvPr id="180" name="Google Shape;18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49" y="1017724"/>
            <a:ext cx="8045049" cy="39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Last 100 generations </a:t>
            </a:r>
            <a:endParaRPr/>
          </a:p>
        </p:txBody>
      </p:sp>
      <p:pic>
        <p:nvPicPr>
          <p:cNvPr id="186" name="Google Shape;18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81037"/>
            <a:ext cx="8520599" cy="377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>
            <p:ph type="title"/>
          </p:nvPr>
        </p:nvSpPr>
        <p:spPr>
          <a:xfrm>
            <a:off x="311700" y="3943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Questions?</a:t>
            </a:r>
            <a:endParaRPr/>
          </a:p>
        </p:txBody>
      </p:sp>
      <p:pic>
        <p:nvPicPr>
          <p:cNvPr id="192" name="Google Shape;192;p35" title="ezgif-3a42db19c91711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71825" y="1812000"/>
            <a:ext cx="2800350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Extra slides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/>
          <p:nvPr>
            <p:ph type="title"/>
          </p:nvPr>
        </p:nvSpPr>
        <p:spPr>
          <a:xfrm>
            <a:off x="311700" y="377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Selection Methods to improve avg-fitness : SSGA</a:t>
            </a:r>
            <a:endParaRPr/>
          </a:p>
        </p:txBody>
      </p:sp>
      <p:pic>
        <p:nvPicPr>
          <p:cNvPr id="203" name="Google Shape;20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3650" y="950625"/>
            <a:ext cx="5459825" cy="409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Distribution of 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9" name="Google Shape;209;p38"/>
          <p:cNvGraphicFramePr/>
          <p:nvPr/>
        </p:nvGraphicFramePr>
        <p:xfrm>
          <a:off x="769575" y="148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{A5771C61-CCDC-4E5F-AD1B-FB2943BE23A8}</a:tableStyleId>
              </a:tblPr>
              <a:tblGrid>
                <a:gridCol w="2844975"/>
                <a:gridCol w="4914700"/>
              </a:tblGrid>
              <a:tr h="48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Roxana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Grey-box Initialization: Region-based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Sanchita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Selection-truncation + SSGA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Sreevidya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Grey-box Initialization: Edge-based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Sofie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nl">
                          <a:solidFill>
                            <a:schemeClr val="dk1"/>
                          </a:solidFill>
                        </a:rPr>
                        <a:t>Selection-tournament + SUS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Tygo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/>
                        <a:t>Voronoi-preserving Crossover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Preserving Voronoi-points during Variation: Goal</a:t>
            </a:r>
            <a:endParaRPr/>
          </a:p>
        </p:txBody>
      </p:sp>
      <p:sp>
        <p:nvSpPr>
          <p:cNvPr id="215" name="Google Shape;21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Goal of variation: We want to combine good schema (building blocks) of well-performing parents to get even better offspring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Schema growth equation: Schema’s with an above average fitness are expected to appear more often in the population when their probability of being disrupted is sufficiently low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Thus: Reducing the probability of disruption will encourage schemata with above average fitness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Preserving Voronoi-points during Variation: Idea</a:t>
            </a:r>
            <a:endParaRPr/>
          </a:p>
        </p:txBody>
      </p:sp>
      <p:sp>
        <p:nvSpPr>
          <p:cNvPr id="221" name="Google Shape;22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What does a building block in a Voronoi diagram look like?</a:t>
            </a:r>
            <a:br>
              <a:rPr lang="nl"/>
            </a:br>
            <a:r>
              <a:rPr lang="nl"/>
              <a:t>	Probably: a point or set of points that captures the image well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	Because: </a:t>
            </a:r>
            <a:r>
              <a:rPr lang="nl"/>
              <a:t>A good schema is unlikely to contain only a part of a point, because the values (x, y, r, g, b) are dependent: it makes little sense for an “xy”-value to be good on its own. Instead: “Color rgb at xy is good” </a:t>
            </a:r>
            <a:r>
              <a:rPr lang="nl"/>
              <a:t>makes more sense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So: Keeping individual Voronoi points intact during crossover will reduce the probability of disruption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Let’s design crossover operators that work on individual </a:t>
            </a:r>
            <a:r>
              <a:rPr b="1" lang="nl"/>
              <a:t>points </a:t>
            </a:r>
            <a:r>
              <a:rPr lang="nl"/>
              <a:t>rather than individual </a:t>
            </a:r>
            <a:r>
              <a:rPr b="1" lang="nl"/>
              <a:t>integers</a:t>
            </a:r>
            <a:endParaRPr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Preserving Voronoi-points during Variation: Experiment</a:t>
            </a:r>
            <a:endParaRPr/>
          </a:p>
        </p:txBody>
      </p:sp>
      <p:sp>
        <p:nvSpPr>
          <p:cNvPr id="227" name="Google Shape;227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nl"/>
              <a:t>RQ: How does preserving the (x, y, r, g, b)-structure of individual Voronoi points during crossover affect the algorithm’s convergence rate?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To find out, we take several common crossover-operators and implement a version that works on integers and one version that works on points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Then, we measure the best fitness over generations per operator, and we compare the point-based operators to their integer-based counterparts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Preserving Voronoi-points during Variation: Results</a:t>
            </a:r>
            <a:endParaRPr/>
          </a:p>
        </p:txBody>
      </p:sp>
      <p:pic>
        <p:nvPicPr>
          <p:cNvPr id="233" name="Google Shape;23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8963" y="1017725"/>
            <a:ext cx="7166080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Preserving Voronoi-points during Variation: Results</a:t>
            </a:r>
            <a:endParaRPr/>
          </a:p>
        </p:txBody>
      </p:sp>
      <p:pic>
        <p:nvPicPr>
          <p:cNvPr id="239" name="Google Shape;239;p43" title="auc_comparison_confidence_bar_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738" y="1017725"/>
            <a:ext cx="773256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Preserving Voronoi-points during Variation: Conclusion</a:t>
            </a:r>
            <a:endParaRPr/>
          </a:p>
        </p:txBody>
      </p:sp>
      <p:sp>
        <p:nvSpPr>
          <p:cNvPr id="245" name="Google Shape;245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Point-preserving crossover does not improve n-point crossover for n&lt;=20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Point-preserving uniform crossover seems to perform the best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Possible reasons: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	n-point crossover already does not disrupt blocks that much (for low 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	point-preserving crossover might not introduce enough variation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Tournament sizes</a:t>
            </a:r>
            <a:endParaRPr/>
          </a:p>
        </p:txBody>
      </p:sp>
      <p:pic>
        <p:nvPicPr>
          <p:cNvPr id="251" name="Google Shape;25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0425" y="1113925"/>
            <a:ext cx="5020052" cy="380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